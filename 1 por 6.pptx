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oppins Heavy" charset="1" panose="00000A00000000000000"/>
      <p:regular r:id="rId15"/>
    </p:embeddedFont>
    <p:embeddedFont>
      <p:font typeface="Poppins" charset="1" panose="00000500000000000000"/>
      <p:regular r:id="rId16"/>
    </p:embeddedFont>
    <p:embeddedFont>
      <p:font typeface="Beach Resort" charset="1" panose="02000500000000000000"/>
      <p:regular r:id="rId17"/>
    </p:embeddedFont>
    <p:embeddedFont>
      <p:font typeface="Poppins Ultra-Bold" charset="1" panose="00000900000000000000"/>
      <p:regular r:id="rId18"/>
    </p:embeddedFont>
    <p:embeddedFont>
      <p:font typeface="Open Sans" charset="1" panose="020B0606030504020204"/>
      <p:regular r:id="rId19"/>
    </p:embeddedFont>
    <p:embeddedFont>
      <p:font typeface="Poppins Bold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65930" y="3777387"/>
            <a:ext cx="1759059" cy="438166"/>
          </a:xfrm>
          <a:custGeom>
            <a:avLst/>
            <a:gdLst/>
            <a:ahLst/>
            <a:cxnLst/>
            <a:rect r="r" b="b" t="t" l="l"/>
            <a:pathLst>
              <a:path h="438166" w="1759059">
                <a:moveTo>
                  <a:pt x="0" y="0"/>
                </a:moveTo>
                <a:lnTo>
                  <a:pt x="1759059" y="0"/>
                </a:lnTo>
                <a:lnTo>
                  <a:pt x="1759059" y="438165"/>
                </a:lnTo>
                <a:lnTo>
                  <a:pt x="0" y="4381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787978" y="3777387"/>
            <a:ext cx="990210" cy="3086100"/>
            <a:chOff x="0" y="0"/>
            <a:chExt cx="260796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60796" cy="812800"/>
            </a:xfrm>
            <a:custGeom>
              <a:avLst/>
              <a:gdLst/>
              <a:ahLst/>
              <a:cxnLst/>
              <a:rect r="r" b="b" t="t" l="l"/>
              <a:pathLst>
                <a:path h="812800" w="260796">
                  <a:moveTo>
                    <a:pt x="0" y="0"/>
                  </a:moveTo>
                  <a:lnTo>
                    <a:pt x="260796" y="0"/>
                  </a:lnTo>
                  <a:lnTo>
                    <a:pt x="26079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72D4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60796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48123" y="3777387"/>
            <a:ext cx="1044649" cy="3086100"/>
            <a:chOff x="0" y="0"/>
            <a:chExt cx="275134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5134" cy="812800"/>
            </a:xfrm>
            <a:custGeom>
              <a:avLst/>
              <a:gdLst/>
              <a:ahLst/>
              <a:cxnLst/>
              <a:rect r="r" b="b" t="t" l="l"/>
              <a:pathLst>
                <a:path h="812800" w="275134">
                  <a:moveTo>
                    <a:pt x="0" y="0"/>
                  </a:moveTo>
                  <a:lnTo>
                    <a:pt x="275134" y="0"/>
                  </a:lnTo>
                  <a:lnTo>
                    <a:pt x="27513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72D4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75134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782776" y="4728405"/>
            <a:ext cx="5963957" cy="150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93"/>
              </a:lnSpc>
            </a:pPr>
            <a:r>
              <a:rPr lang="en-US" sz="11736" b="true">
                <a:solidFill>
                  <a:srgbClr val="272D4B"/>
                </a:solidFill>
                <a:latin typeface="Poppins Heavy"/>
                <a:ea typeface="Poppins Heavy"/>
                <a:cs typeface="Poppins Heavy"/>
                <a:sym typeface="Poppins Heavy"/>
              </a:rPr>
              <a:t>projeto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65930" y="6328737"/>
            <a:ext cx="3288271" cy="53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25"/>
              </a:lnSpc>
              <a:spcBef>
                <a:spcPct val="0"/>
              </a:spcBef>
            </a:pPr>
            <a:r>
              <a:rPr lang="en-US" sz="2946" spc="612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APP MOBILE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03246" y="3683634"/>
            <a:ext cx="2462683" cy="768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75"/>
              </a:lnSpc>
              <a:spcBef>
                <a:spcPct val="0"/>
              </a:spcBef>
            </a:pPr>
            <a:r>
              <a:rPr lang="en-US" b="true" sz="6017">
                <a:solidFill>
                  <a:srgbClr val="272D4B"/>
                </a:solidFill>
                <a:latin typeface="Poppins Heavy"/>
                <a:ea typeface="Poppins Heavy"/>
                <a:cs typeface="Poppins Heavy"/>
                <a:sym typeface="Poppins Heavy"/>
              </a:rPr>
              <a:t>1 por 6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946181" y="3540759"/>
            <a:ext cx="3159753" cy="2913556"/>
          </a:xfrm>
          <a:custGeom>
            <a:avLst/>
            <a:gdLst/>
            <a:ahLst/>
            <a:cxnLst/>
            <a:rect r="r" b="b" t="t" l="l"/>
            <a:pathLst>
              <a:path h="2913556" w="3159753">
                <a:moveTo>
                  <a:pt x="0" y="0"/>
                </a:moveTo>
                <a:lnTo>
                  <a:pt x="3159754" y="0"/>
                </a:lnTo>
                <a:lnTo>
                  <a:pt x="3159754" y="2913556"/>
                </a:lnTo>
                <a:lnTo>
                  <a:pt x="0" y="29135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746733" y="6120753"/>
            <a:ext cx="3894261" cy="95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96"/>
              </a:lnSpc>
              <a:spcBef>
                <a:spcPct val="0"/>
              </a:spcBef>
            </a:pPr>
            <a:r>
              <a:rPr lang="en-US" sz="5640">
                <a:solidFill>
                  <a:srgbClr val="000000"/>
                </a:solidFill>
                <a:latin typeface="Beach Resort"/>
                <a:ea typeface="Beach Resort"/>
                <a:cs typeface="Beach Resort"/>
                <a:sym typeface="Beach Resort"/>
              </a:rPr>
              <a:t>Pata na Porta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94317" y="2695283"/>
            <a:ext cx="5281808" cy="5241886"/>
            <a:chOff x="0" y="0"/>
            <a:chExt cx="1391093" cy="13805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093" cy="1380579"/>
            </a:xfrm>
            <a:custGeom>
              <a:avLst/>
              <a:gdLst/>
              <a:ahLst/>
              <a:cxnLst/>
              <a:rect r="r" b="b" t="t" l="l"/>
              <a:pathLst>
                <a:path h="1380579" w="1391093">
                  <a:moveTo>
                    <a:pt x="0" y="0"/>
                  </a:moveTo>
                  <a:lnTo>
                    <a:pt x="1391093" y="0"/>
                  </a:lnTo>
                  <a:lnTo>
                    <a:pt x="1391093" y="1380579"/>
                  </a:lnTo>
                  <a:lnTo>
                    <a:pt x="0" y="1380579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91093" cy="14186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994317" y="9645867"/>
            <a:ext cx="5281808" cy="1256884"/>
            <a:chOff x="0" y="0"/>
            <a:chExt cx="1391093" cy="3310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91093" cy="331031"/>
            </a:xfrm>
            <a:custGeom>
              <a:avLst/>
              <a:gdLst/>
              <a:ahLst/>
              <a:cxnLst/>
              <a:rect r="r" b="b" t="t" l="l"/>
              <a:pathLst>
                <a:path h="331031" w="1391093">
                  <a:moveTo>
                    <a:pt x="0" y="0"/>
                  </a:moveTo>
                  <a:lnTo>
                    <a:pt x="1391093" y="0"/>
                  </a:lnTo>
                  <a:lnTo>
                    <a:pt x="1391093" y="331031"/>
                  </a:lnTo>
                  <a:lnTo>
                    <a:pt x="0" y="331031"/>
                  </a:lnTo>
                  <a:close/>
                </a:path>
              </a:pathLst>
            </a:custGeom>
            <a:solidFill>
              <a:srgbClr val="272D4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391093" cy="369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344253" y="3045219"/>
            <a:ext cx="4546498" cy="454649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3584" t="0" r="-3584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94181" y="2051772"/>
            <a:ext cx="7357970" cy="3091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00"/>
              </a:lnSpc>
            </a:pPr>
            <a:r>
              <a:rPr lang="en-US" b="true" sz="8953">
                <a:solidFill>
                  <a:srgbClr val="272D4B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Problema a ser resolvido: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85378" y="5232743"/>
            <a:ext cx="9053618" cy="348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272D4B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Clientes de pet shop muitas vezes precisam ir até a loja para comprar ração, acessórios e remédios, o que consome tempo. Nosso aplicativo permite que o usuário</a:t>
            </a: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272D4B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visualize produtos disponíveis, adicione ao carrinho e finalize o pedido de forma simples,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800">
                <a:solidFill>
                  <a:srgbClr val="272D4B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solicitando retirada na loja ou entrega local.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42655" y="9598108"/>
            <a:ext cx="7293683" cy="1735640"/>
            <a:chOff x="0" y="0"/>
            <a:chExt cx="1391093" cy="3310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093" cy="331031"/>
            </a:xfrm>
            <a:custGeom>
              <a:avLst/>
              <a:gdLst/>
              <a:ahLst/>
              <a:cxnLst/>
              <a:rect r="r" b="b" t="t" l="l"/>
              <a:pathLst>
                <a:path h="331031" w="1391093">
                  <a:moveTo>
                    <a:pt x="0" y="0"/>
                  </a:moveTo>
                  <a:lnTo>
                    <a:pt x="1391093" y="0"/>
                  </a:lnTo>
                  <a:lnTo>
                    <a:pt x="1391093" y="331031"/>
                  </a:lnTo>
                  <a:lnTo>
                    <a:pt x="0" y="331031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91093" cy="369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818061" y="0"/>
            <a:ext cx="9769068" cy="18793446"/>
            <a:chOff x="0" y="0"/>
            <a:chExt cx="13025425" cy="25057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025425" cy="25057928"/>
            </a:xfrm>
            <a:custGeom>
              <a:avLst/>
              <a:gdLst/>
              <a:ahLst/>
              <a:cxnLst/>
              <a:rect r="r" b="b" t="t" l="l"/>
              <a:pathLst>
                <a:path h="25057928" w="13025425">
                  <a:moveTo>
                    <a:pt x="0" y="0"/>
                  </a:moveTo>
                  <a:lnTo>
                    <a:pt x="13025425" y="0"/>
                  </a:lnTo>
                  <a:lnTo>
                    <a:pt x="13025425" y="25057928"/>
                  </a:lnTo>
                  <a:lnTo>
                    <a:pt x="0" y="25057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0679" t="-3501" r="-54528" b="-3167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4769271" y="3412644"/>
              <a:ext cx="1705341" cy="1769365"/>
            </a:xfrm>
            <a:custGeom>
              <a:avLst/>
              <a:gdLst/>
              <a:ahLst/>
              <a:cxnLst/>
              <a:rect r="r" b="b" t="t" l="l"/>
              <a:pathLst>
                <a:path h="1769365" w="1705341">
                  <a:moveTo>
                    <a:pt x="0" y="0"/>
                  </a:moveTo>
                  <a:lnTo>
                    <a:pt x="1705341" y="0"/>
                  </a:lnTo>
                  <a:lnTo>
                    <a:pt x="1705341" y="1769364"/>
                  </a:lnTo>
                  <a:lnTo>
                    <a:pt x="0" y="1769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4431904" y="5232808"/>
              <a:ext cx="2461718" cy="900561"/>
            </a:xfrm>
            <a:custGeom>
              <a:avLst/>
              <a:gdLst/>
              <a:ahLst/>
              <a:cxnLst/>
              <a:rect r="r" b="b" t="t" l="l"/>
              <a:pathLst>
                <a:path h="900561" w="2461718">
                  <a:moveTo>
                    <a:pt x="0" y="0"/>
                  </a:moveTo>
                  <a:lnTo>
                    <a:pt x="2461718" y="0"/>
                  </a:lnTo>
                  <a:lnTo>
                    <a:pt x="2461718" y="900562"/>
                  </a:lnTo>
                  <a:lnTo>
                    <a:pt x="0" y="9005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3114" t="0" r="-39798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4595191" y="5185183"/>
              <a:ext cx="2149376" cy="4548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29"/>
                </a:lnSpc>
              </a:pPr>
              <a:r>
                <a:rPr lang="en-US" sz="202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Pata na Porta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772058" y="1524223"/>
            <a:ext cx="1447843" cy="7238555"/>
            <a:chOff x="0" y="0"/>
            <a:chExt cx="276141" cy="138057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6141" cy="1380579"/>
            </a:xfrm>
            <a:custGeom>
              <a:avLst/>
              <a:gdLst/>
              <a:ahLst/>
              <a:cxnLst/>
              <a:rect r="r" b="b" t="t" l="l"/>
              <a:pathLst>
                <a:path h="1380579" w="276141">
                  <a:moveTo>
                    <a:pt x="0" y="0"/>
                  </a:moveTo>
                  <a:lnTo>
                    <a:pt x="276141" y="0"/>
                  </a:lnTo>
                  <a:lnTo>
                    <a:pt x="276141" y="1380579"/>
                  </a:lnTo>
                  <a:lnTo>
                    <a:pt x="0" y="1380579"/>
                  </a:lnTo>
                  <a:close/>
                </a:path>
              </a:pathLst>
            </a:custGeom>
            <a:solidFill>
              <a:srgbClr val="272D4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76141" cy="14186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27563" y="1842570"/>
            <a:ext cx="4053627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b="true" sz="3399">
                <a:solidFill>
                  <a:srgbClr val="272D4B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Público-alvo: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17255" y="2508987"/>
            <a:ext cx="5874316" cy="252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Donos de pets que compram ração, coleiras, brinquedos e produtos de uso contínuo.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Pet shops que querem vender online de forma simples e sem custos altos.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7563" y="5545023"/>
            <a:ext cx="2936131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b="true" sz="3399">
                <a:solidFill>
                  <a:srgbClr val="272D4B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Benefícios: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17255" y="6242462"/>
            <a:ext cx="6732557" cy="252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Praticidade para o cliente comprar produtos sem sair de casa.</a:t>
            </a:r>
            <a:r>
              <a:rPr lang="en-US" b="true" sz="2400">
                <a:solidFill>
                  <a:srgbClr val="272D4B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 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Organização e visibilidade para o pet shop sobre pedidos feitos. 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Facilidade para o tutor encontrar o que precisa em um só lugar.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168" t="-9111" r="0" b="-5305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901344" y="3837355"/>
            <a:ext cx="5616162" cy="1798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4"/>
              </a:lnSpc>
            </a:pPr>
            <a:r>
              <a:rPr lang="en-US" sz="6684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Desing base</a:t>
            </a:r>
          </a:p>
          <a:p>
            <a:pPr algn="ctr" marL="0" indent="0" lvl="0">
              <a:lnSpc>
                <a:spcPts val="6684"/>
              </a:lnSpc>
            </a:pPr>
            <a:r>
              <a:rPr lang="en-US" b="true" sz="6684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UI/UX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901344" y="1855414"/>
            <a:ext cx="4655015" cy="1159522"/>
          </a:xfrm>
          <a:custGeom>
            <a:avLst/>
            <a:gdLst/>
            <a:ahLst/>
            <a:cxnLst/>
            <a:rect r="r" b="b" t="t" l="l"/>
            <a:pathLst>
              <a:path h="1159522" w="4655015">
                <a:moveTo>
                  <a:pt x="0" y="0"/>
                </a:moveTo>
                <a:lnTo>
                  <a:pt x="4655015" y="0"/>
                </a:lnTo>
                <a:lnTo>
                  <a:pt x="4655015" y="1159522"/>
                </a:lnTo>
                <a:lnTo>
                  <a:pt x="0" y="11595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392789" y="5733646"/>
            <a:ext cx="2633272" cy="444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8"/>
              </a:lnSpc>
              <a:spcBef>
                <a:spcPct val="0"/>
              </a:spcBef>
            </a:pPr>
            <a:r>
              <a:rPr lang="en-US" b="true" sz="2448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feito por Heloísa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87978" y="3777387"/>
            <a:ext cx="990210" cy="3086100"/>
            <a:chOff x="0" y="0"/>
            <a:chExt cx="260796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0796" cy="812800"/>
            </a:xfrm>
            <a:custGeom>
              <a:avLst/>
              <a:gdLst/>
              <a:ahLst/>
              <a:cxnLst/>
              <a:rect r="r" b="b" t="t" l="l"/>
              <a:pathLst>
                <a:path h="812800" w="260796">
                  <a:moveTo>
                    <a:pt x="0" y="0"/>
                  </a:moveTo>
                  <a:lnTo>
                    <a:pt x="260796" y="0"/>
                  </a:lnTo>
                  <a:lnTo>
                    <a:pt x="26079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72D4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60796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48123" y="3777387"/>
            <a:ext cx="1044649" cy="3086100"/>
            <a:chOff x="0" y="0"/>
            <a:chExt cx="275134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5134" cy="812800"/>
            </a:xfrm>
            <a:custGeom>
              <a:avLst/>
              <a:gdLst/>
              <a:ahLst/>
              <a:cxnLst/>
              <a:rect r="r" b="b" t="t" l="l"/>
              <a:pathLst>
                <a:path h="812800" w="275134">
                  <a:moveTo>
                    <a:pt x="0" y="0"/>
                  </a:moveTo>
                  <a:lnTo>
                    <a:pt x="275134" y="0"/>
                  </a:lnTo>
                  <a:lnTo>
                    <a:pt x="27513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72D4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5134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90714" y="1588194"/>
            <a:ext cx="3640907" cy="7483181"/>
          </a:xfrm>
          <a:custGeom>
            <a:avLst/>
            <a:gdLst/>
            <a:ahLst/>
            <a:cxnLst/>
            <a:rect r="r" b="b" t="t" l="l"/>
            <a:pathLst>
              <a:path h="7483181" w="3640907">
                <a:moveTo>
                  <a:pt x="0" y="0"/>
                </a:moveTo>
                <a:lnTo>
                  <a:pt x="3640907" y="0"/>
                </a:lnTo>
                <a:lnTo>
                  <a:pt x="3640907" y="7483181"/>
                </a:lnTo>
                <a:lnTo>
                  <a:pt x="0" y="74831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99" t="0" r="-8706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46049" y="1269047"/>
            <a:ext cx="4382389" cy="8218532"/>
          </a:xfrm>
          <a:custGeom>
            <a:avLst/>
            <a:gdLst/>
            <a:ahLst/>
            <a:cxnLst/>
            <a:rect r="r" b="b" t="t" l="l"/>
            <a:pathLst>
              <a:path h="8218532" w="4382389">
                <a:moveTo>
                  <a:pt x="0" y="0"/>
                </a:moveTo>
                <a:lnTo>
                  <a:pt x="4382389" y="0"/>
                </a:lnTo>
                <a:lnTo>
                  <a:pt x="4382389" y="8218532"/>
                </a:lnTo>
                <a:lnTo>
                  <a:pt x="0" y="82185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1009" t="-10608" r="-60346" b="-7425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999454" y="1269047"/>
            <a:ext cx="4514969" cy="8424427"/>
            <a:chOff x="0" y="0"/>
            <a:chExt cx="6019959" cy="1123257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265149" y="355462"/>
              <a:ext cx="5169329" cy="2113256"/>
              <a:chOff x="0" y="0"/>
              <a:chExt cx="871409" cy="356238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71409" cy="356238"/>
              </a:xfrm>
              <a:custGeom>
                <a:avLst/>
                <a:gdLst/>
                <a:ahLst/>
                <a:cxnLst/>
                <a:rect r="r" b="b" t="t" l="l"/>
                <a:pathLst>
                  <a:path h="356238" w="871409">
                    <a:moveTo>
                      <a:pt x="119336" y="0"/>
                    </a:moveTo>
                    <a:lnTo>
                      <a:pt x="752073" y="0"/>
                    </a:lnTo>
                    <a:cubicBezTo>
                      <a:pt x="817981" y="0"/>
                      <a:pt x="871409" y="53428"/>
                      <a:pt x="871409" y="119336"/>
                    </a:cubicBezTo>
                    <a:lnTo>
                      <a:pt x="871409" y="236902"/>
                    </a:lnTo>
                    <a:cubicBezTo>
                      <a:pt x="871409" y="302809"/>
                      <a:pt x="817981" y="356238"/>
                      <a:pt x="752073" y="356238"/>
                    </a:cubicBezTo>
                    <a:lnTo>
                      <a:pt x="119336" y="356238"/>
                    </a:lnTo>
                    <a:cubicBezTo>
                      <a:pt x="87686" y="356238"/>
                      <a:pt x="57332" y="343665"/>
                      <a:pt x="34953" y="321285"/>
                    </a:cubicBezTo>
                    <a:cubicBezTo>
                      <a:pt x="12573" y="298905"/>
                      <a:pt x="0" y="268552"/>
                      <a:pt x="0" y="236902"/>
                    </a:cubicBezTo>
                    <a:lnTo>
                      <a:pt x="0" y="119336"/>
                    </a:lnTo>
                    <a:cubicBezTo>
                      <a:pt x="0" y="53428"/>
                      <a:pt x="53428" y="0"/>
                      <a:pt x="119336" y="0"/>
                    </a:cubicBezTo>
                    <a:close/>
                  </a:path>
                </a:pathLst>
              </a:custGeom>
              <a:solidFill>
                <a:srgbClr val="272D4B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871409" cy="3943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352798" y="5616285"/>
              <a:ext cx="4994030" cy="4913599"/>
            </a:xfrm>
            <a:custGeom>
              <a:avLst/>
              <a:gdLst/>
              <a:ahLst/>
              <a:cxnLst/>
              <a:rect r="r" b="b" t="t" l="l"/>
              <a:pathLst>
                <a:path h="4913599" w="4994030">
                  <a:moveTo>
                    <a:pt x="0" y="0"/>
                  </a:moveTo>
                  <a:lnTo>
                    <a:pt x="4994030" y="0"/>
                  </a:lnTo>
                  <a:lnTo>
                    <a:pt x="4994030" y="4913598"/>
                  </a:lnTo>
                  <a:lnTo>
                    <a:pt x="0" y="4913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2224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019959" cy="11232570"/>
            </a:xfrm>
            <a:custGeom>
              <a:avLst/>
              <a:gdLst/>
              <a:ahLst/>
              <a:cxnLst/>
              <a:rect r="r" b="b" t="t" l="l"/>
              <a:pathLst>
                <a:path h="11232570" w="6019959">
                  <a:moveTo>
                    <a:pt x="0" y="0"/>
                  </a:moveTo>
                  <a:lnTo>
                    <a:pt x="6019959" y="0"/>
                  </a:lnTo>
                  <a:lnTo>
                    <a:pt x="6019959" y="11232570"/>
                  </a:lnTo>
                  <a:lnTo>
                    <a:pt x="0" y="11232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0786" t="-9999" r="-55621" b="-5982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452347" y="911679"/>
              <a:ext cx="4794933" cy="5263558"/>
            </a:xfrm>
            <a:custGeom>
              <a:avLst/>
              <a:gdLst/>
              <a:ahLst/>
              <a:cxnLst/>
              <a:rect r="r" b="b" t="t" l="l"/>
              <a:pathLst>
                <a:path h="5263558" w="4794933">
                  <a:moveTo>
                    <a:pt x="0" y="0"/>
                  </a:moveTo>
                  <a:lnTo>
                    <a:pt x="4794933" y="0"/>
                  </a:lnTo>
                  <a:lnTo>
                    <a:pt x="4794933" y="5263558"/>
                  </a:lnTo>
                  <a:lnTo>
                    <a:pt x="0" y="52635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76" t="0" r="-2076" b="-70109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537342" y="702628"/>
            <a:ext cx="3557585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272D4B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Tela do produto: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172492" y="1211171"/>
            <a:ext cx="4287285" cy="8482304"/>
            <a:chOff x="0" y="0"/>
            <a:chExt cx="5716380" cy="11309739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330748"/>
              <a:ext cx="5348082" cy="1402957"/>
              <a:chOff x="0" y="0"/>
              <a:chExt cx="1023560" cy="26851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023560" cy="268510"/>
              </a:xfrm>
              <a:custGeom>
                <a:avLst/>
                <a:gdLst/>
                <a:ahLst/>
                <a:cxnLst/>
                <a:rect r="r" b="b" t="t" l="l"/>
                <a:pathLst>
                  <a:path h="268510" w="1023560">
                    <a:moveTo>
                      <a:pt x="101597" y="0"/>
                    </a:moveTo>
                    <a:lnTo>
                      <a:pt x="921964" y="0"/>
                    </a:lnTo>
                    <a:cubicBezTo>
                      <a:pt x="948909" y="0"/>
                      <a:pt x="974750" y="10704"/>
                      <a:pt x="993803" y="29757"/>
                    </a:cubicBezTo>
                    <a:cubicBezTo>
                      <a:pt x="1012856" y="48810"/>
                      <a:pt x="1023560" y="74651"/>
                      <a:pt x="1023560" y="101597"/>
                    </a:cubicBezTo>
                    <a:lnTo>
                      <a:pt x="1023560" y="166913"/>
                    </a:lnTo>
                    <a:cubicBezTo>
                      <a:pt x="1023560" y="193858"/>
                      <a:pt x="1012856" y="219700"/>
                      <a:pt x="993803" y="238753"/>
                    </a:cubicBezTo>
                    <a:cubicBezTo>
                      <a:pt x="974750" y="257806"/>
                      <a:pt x="948909" y="268510"/>
                      <a:pt x="921964" y="268510"/>
                    </a:cubicBezTo>
                    <a:lnTo>
                      <a:pt x="101597" y="268510"/>
                    </a:lnTo>
                    <a:cubicBezTo>
                      <a:pt x="74651" y="268510"/>
                      <a:pt x="48810" y="257806"/>
                      <a:pt x="29757" y="238753"/>
                    </a:cubicBezTo>
                    <a:cubicBezTo>
                      <a:pt x="10704" y="219700"/>
                      <a:pt x="0" y="193858"/>
                      <a:pt x="0" y="166913"/>
                    </a:cubicBezTo>
                    <a:lnTo>
                      <a:pt x="0" y="101597"/>
                    </a:lnTo>
                    <a:cubicBezTo>
                      <a:pt x="0" y="74651"/>
                      <a:pt x="10704" y="48810"/>
                      <a:pt x="29757" y="29757"/>
                    </a:cubicBezTo>
                    <a:cubicBezTo>
                      <a:pt x="48810" y="10704"/>
                      <a:pt x="74651" y="0"/>
                      <a:pt x="101597" y="0"/>
                    </a:cubicBezTo>
                    <a:close/>
                  </a:path>
                </a:pathLst>
              </a:custGeom>
              <a:solidFill>
                <a:srgbClr val="353A60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023560" cy="30661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9795648"/>
              <a:ext cx="5348082" cy="1065901"/>
              <a:chOff x="0" y="0"/>
              <a:chExt cx="1023560" cy="20400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023560" cy="204001"/>
              </a:xfrm>
              <a:custGeom>
                <a:avLst/>
                <a:gdLst/>
                <a:ahLst/>
                <a:cxnLst/>
                <a:rect r="r" b="b" t="t" l="l"/>
                <a:pathLst>
                  <a:path h="204001" w="1023560">
                    <a:moveTo>
                      <a:pt x="101597" y="0"/>
                    </a:moveTo>
                    <a:lnTo>
                      <a:pt x="921964" y="0"/>
                    </a:lnTo>
                    <a:cubicBezTo>
                      <a:pt x="948909" y="0"/>
                      <a:pt x="974750" y="10704"/>
                      <a:pt x="993803" y="29757"/>
                    </a:cubicBezTo>
                    <a:cubicBezTo>
                      <a:pt x="1012856" y="48810"/>
                      <a:pt x="1023560" y="74651"/>
                      <a:pt x="1023560" y="101597"/>
                    </a:cubicBezTo>
                    <a:lnTo>
                      <a:pt x="1023560" y="102404"/>
                    </a:lnTo>
                    <a:cubicBezTo>
                      <a:pt x="1023560" y="129350"/>
                      <a:pt x="1012856" y="155191"/>
                      <a:pt x="993803" y="174244"/>
                    </a:cubicBezTo>
                    <a:cubicBezTo>
                      <a:pt x="974750" y="193297"/>
                      <a:pt x="948909" y="204001"/>
                      <a:pt x="921964" y="204001"/>
                    </a:cubicBezTo>
                    <a:lnTo>
                      <a:pt x="101597" y="204001"/>
                    </a:lnTo>
                    <a:cubicBezTo>
                      <a:pt x="74651" y="204001"/>
                      <a:pt x="48810" y="193297"/>
                      <a:pt x="29757" y="174244"/>
                    </a:cubicBezTo>
                    <a:cubicBezTo>
                      <a:pt x="10704" y="155191"/>
                      <a:pt x="0" y="129350"/>
                      <a:pt x="0" y="102404"/>
                    </a:cubicBezTo>
                    <a:lnTo>
                      <a:pt x="0" y="101597"/>
                    </a:lnTo>
                    <a:cubicBezTo>
                      <a:pt x="0" y="74651"/>
                      <a:pt x="10704" y="48810"/>
                      <a:pt x="29757" y="29757"/>
                    </a:cubicBezTo>
                    <a:cubicBezTo>
                      <a:pt x="48810" y="10704"/>
                      <a:pt x="74651" y="0"/>
                      <a:pt x="101597" y="0"/>
                    </a:cubicBezTo>
                    <a:close/>
                  </a:path>
                </a:pathLst>
              </a:custGeom>
              <a:solidFill>
                <a:srgbClr val="272D4B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023560" cy="2421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5" id="25"/>
            <p:cNvSpPr/>
            <p:nvPr/>
          </p:nvSpPr>
          <p:spPr>
            <a:xfrm flipH="false" flipV="false" rot="0">
              <a:off x="214439" y="914299"/>
              <a:ext cx="5133643" cy="9093022"/>
            </a:xfrm>
            <a:custGeom>
              <a:avLst/>
              <a:gdLst/>
              <a:ahLst/>
              <a:cxnLst/>
              <a:rect r="r" b="b" t="t" l="l"/>
              <a:pathLst>
                <a:path h="9093022" w="5133643">
                  <a:moveTo>
                    <a:pt x="0" y="0"/>
                  </a:moveTo>
                  <a:lnTo>
                    <a:pt x="5133643" y="0"/>
                  </a:lnTo>
                  <a:lnTo>
                    <a:pt x="5133643" y="9093021"/>
                  </a:lnTo>
                  <a:lnTo>
                    <a:pt x="0" y="9093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16380" cy="11309739"/>
            </a:xfrm>
            <a:custGeom>
              <a:avLst/>
              <a:gdLst/>
              <a:ahLst/>
              <a:cxnLst/>
              <a:rect r="r" b="b" t="t" l="l"/>
              <a:pathLst>
                <a:path h="11309739" w="5716380">
                  <a:moveTo>
                    <a:pt x="0" y="0"/>
                  </a:moveTo>
                  <a:lnTo>
                    <a:pt x="5716380" y="0"/>
                  </a:lnTo>
                  <a:lnTo>
                    <a:pt x="5716380" y="11309739"/>
                  </a:lnTo>
                  <a:lnTo>
                    <a:pt x="0" y="11309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9863" t="-10608" r="-63664" b="-7425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7825616" y="702628"/>
            <a:ext cx="2516630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272D4B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Tela inicial: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90714" y="702628"/>
            <a:ext cx="4001522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272D4B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Tela de abertura: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42655" y="1524223"/>
            <a:ext cx="7293683" cy="7238555"/>
            <a:chOff x="0" y="0"/>
            <a:chExt cx="1391093" cy="13805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093" cy="1380579"/>
            </a:xfrm>
            <a:custGeom>
              <a:avLst/>
              <a:gdLst/>
              <a:ahLst/>
              <a:cxnLst/>
              <a:rect r="r" b="b" t="t" l="l"/>
              <a:pathLst>
                <a:path h="1380579" w="1391093">
                  <a:moveTo>
                    <a:pt x="0" y="0"/>
                  </a:moveTo>
                  <a:lnTo>
                    <a:pt x="1391093" y="0"/>
                  </a:lnTo>
                  <a:lnTo>
                    <a:pt x="1391093" y="1380579"/>
                  </a:lnTo>
                  <a:lnTo>
                    <a:pt x="0" y="1380579"/>
                  </a:lnTo>
                  <a:close/>
                </a:path>
              </a:pathLst>
            </a:custGeom>
            <a:solidFill>
              <a:srgbClr val="272D4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91093" cy="14186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772058" y="1524223"/>
            <a:ext cx="1447843" cy="7238555"/>
            <a:chOff x="0" y="0"/>
            <a:chExt cx="276141" cy="13805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6141" cy="1380579"/>
            </a:xfrm>
            <a:custGeom>
              <a:avLst/>
              <a:gdLst/>
              <a:ahLst/>
              <a:cxnLst/>
              <a:rect r="r" b="b" t="t" l="l"/>
              <a:pathLst>
                <a:path h="1380579" w="276141">
                  <a:moveTo>
                    <a:pt x="0" y="0"/>
                  </a:moveTo>
                  <a:lnTo>
                    <a:pt x="276141" y="0"/>
                  </a:lnTo>
                  <a:lnTo>
                    <a:pt x="276141" y="1380579"/>
                  </a:lnTo>
                  <a:lnTo>
                    <a:pt x="0" y="1380579"/>
                  </a:lnTo>
                  <a:close/>
                </a:path>
              </a:pathLst>
            </a:custGeom>
            <a:solidFill>
              <a:srgbClr val="272D4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6141" cy="14186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680890" y="1524223"/>
            <a:ext cx="2395817" cy="7238555"/>
            <a:chOff x="0" y="0"/>
            <a:chExt cx="456944" cy="13805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6944" cy="1380579"/>
            </a:xfrm>
            <a:custGeom>
              <a:avLst/>
              <a:gdLst/>
              <a:ahLst/>
              <a:cxnLst/>
              <a:rect r="r" b="b" t="t" l="l"/>
              <a:pathLst>
                <a:path h="1380579" w="456944">
                  <a:moveTo>
                    <a:pt x="0" y="0"/>
                  </a:moveTo>
                  <a:lnTo>
                    <a:pt x="456944" y="0"/>
                  </a:lnTo>
                  <a:lnTo>
                    <a:pt x="456944" y="1380579"/>
                  </a:lnTo>
                  <a:lnTo>
                    <a:pt x="0" y="1380579"/>
                  </a:lnTo>
                  <a:close/>
                </a:path>
              </a:pathLst>
            </a:custGeom>
            <a:solidFill>
              <a:srgbClr val="272D4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56944" cy="14186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542655" y="9598108"/>
            <a:ext cx="7293683" cy="1735640"/>
            <a:chOff x="0" y="0"/>
            <a:chExt cx="1391093" cy="3310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91093" cy="331031"/>
            </a:xfrm>
            <a:custGeom>
              <a:avLst/>
              <a:gdLst/>
              <a:ahLst/>
              <a:cxnLst/>
              <a:rect r="r" b="b" t="t" l="l"/>
              <a:pathLst>
                <a:path h="331031" w="1391093">
                  <a:moveTo>
                    <a:pt x="0" y="0"/>
                  </a:moveTo>
                  <a:lnTo>
                    <a:pt x="1391093" y="0"/>
                  </a:lnTo>
                  <a:lnTo>
                    <a:pt x="1391093" y="331031"/>
                  </a:lnTo>
                  <a:lnTo>
                    <a:pt x="0" y="331031"/>
                  </a:lnTo>
                  <a:close/>
                </a:path>
              </a:pathLst>
            </a:custGeom>
            <a:solidFill>
              <a:srgbClr val="272D4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91093" cy="369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680890" y="-972595"/>
            <a:ext cx="2395817" cy="1735640"/>
            <a:chOff x="0" y="0"/>
            <a:chExt cx="456944" cy="3310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56944" cy="331031"/>
            </a:xfrm>
            <a:custGeom>
              <a:avLst/>
              <a:gdLst/>
              <a:ahLst/>
              <a:cxnLst/>
              <a:rect r="r" b="b" t="t" l="l"/>
              <a:pathLst>
                <a:path h="331031" w="456944">
                  <a:moveTo>
                    <a:pt x="0" y="0"/>
                  </a:moveTo>
                  <a:lnTo>
                    <a:pt x="456944" y="0"/>
                  </a:lnTo>
                  <a:lnTo>
                    <a:pt x="456944" y="331031"/>
                  </a:lnTo>
                  <a:lnTo>
                    <a:pt x="0" y="331031"/>
                  </a:lnTo>
                  <a:close/>
                </a:path>
              </a:pathLst>
            </a:custGeom>
            <a:solidFill>
              <a:srgbClr val="272D4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56944" cy="369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025884" y="2007451"/>
            <a:ext cx="6278289" cy="627828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28283" t="0" r="-31716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7164119" y="2007451"/>
            <a:ext cx="1912588" cy="6278289"/>
            <a:chOff x="0" y="0"/>
            <a:chExt cx="247608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7608" cy="812800"/>
            </a:xfrm>
            <a:custGeom>
              <a:avLst/>
              <a:gdLst/>
              <a:ahLst/>
              <a:cxnLst/>
              <a:rect r="r" b="b" t="t" l="l"/>
              <a:pathLst>
                <a:path h="812800" w="247608">
                  <a:moveTo>
                    <a:pt x="0" y="0"/>
                  </a:moveTo>
                  <a:lnTo>
                    <a:pt x="247608" y="0"/>
                  </a:lnTo>
                  <a:lnTo>
                    <a:pt x="247608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l="-114130" t="0" r="-11413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542655" y="-972595"/>
            <a:ext cx="7293683" cy="1735640"/>
            <a:chOff x="0" y="0"/>
            <a:chExt cx="1391093" cy="33103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91093" cy="331031"/>
            </a:xfrm>
            <a:custGeom>
              <a:avLst/>
              <a:gdLst/>
              <a:ahLst/>
              <a:cxnLst/>
              <a:rect r="r" b="b" t="t" l="l"/>
              <a:pathLst>
                <a:path h="331031" w="1391093">
                  <a:moveTo>
                    <a:pt x="0" y="0"/>
                  </a:moveTo>
                  <a:lnTo>
                    <a:pt x="1391093" y="0"/>
                  </a:lnTo>
                  <a:lnTo>
                    <a:pt x="1391093" y="331031"/>
                  </a:lnTo>
                  <a:lnTo>
                    <a:pt x="0" y="331031"/>
                  </a:lnTo>
                  <a:close/>
                </a:path>
              </a:pathLst>
            </a:custGeom>
            <a:solidFill>
              <a:srgbClr val="272D4B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391093" cy="369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520337" y="1667098"/>
            <a:ext cx="6174593" cy="179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12"/>
              </a:lnSpc>
            </a:pPr>
            <a:r>
              <a:rPr lang="en-US" sz="7400" b="true">
                <a:solidFill>
                  <a:srgbClr val="272D4B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Nosso</a:t>
            </a:r>
          </a:p>
          <a:p>
            <a:pPr algn="l" marL="0" indent="0" lvl="0">
              <a:lnSpc>
                <a:spcPts val="6512"/>
              </a:lnSpc>
            </a:pPr>
            <a:r>
              <a:rPr lang="en-US" b="true" sz="7400">
                <a:solidFill>
                  <a:srgbClr val="272D4B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Kanban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21923" y="3396584"/>
            <a:ext cx="6173007" cy="5345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160" b="true">
                <a:solidFill>
                  <a:srgbClr val="272D4B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No nosso projeto, utilizamos o Kanban como ferramenta para esquematizar e organizar as tarefas de forma visual e eficiente.  o que nos permite acompanhar o andamento de cada tarefa.</a:t>
            </a:r>
          </a:p>
          <a:p>
            <a:pPr algn="l">
              <a:lnSpc>
                <a:spcPts val="3024"/>
              </a:lnSpc>
            </a:pPr>
            <a:r>
              <a:rPr lang="en-US" sz="2160" b="true">
                <a:solidFill>
                  <a:srgbClr val="272D4B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 </a:t>
            </a:r>
          </a:p>
          <a:p>
            <a:pPr algn="l">
              <a:lnSpc>
                <a:spcPts val="3024"/>
              </a:lnSpc>
            </a:pPr>
            <a:r>
              <a:rPr lang="en-US" sz="2160" b="true">
                <a:solidFill>
                  <a:srgbClr val="272D4B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Isso facilita a comunicação dentro da equipe, ajuda a priorizar atividades e garante que todos estejam alinhados com o fluxo de trabalho.</a:t>
            </a:r>
          </a:p>
          <a:p>
            <a:pPr algn="l">
              <a:lnSpc>
                <a:spcPts val="3024"/>
              </a:lnSpc>
            </a:pPr>
          </a:p>
          <a:p>
            <a:pPr algn="l" marL="0" indent="0" lvl="0">
              <a:lnSpc>
                <a:spcPts val="3024"/>
              </a:lnSpc>
              <a:spcBef>
                <a:spcPct val="0"/>
              </a:spcBef>
            </a:pPr>
            <a:r>
              <a:rPr lang="en-US" b="true" sz="2160">
                <a:solidFill>
                  <a:srgbClr val="272D4B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O Kanban proporciona uma gestão mais ágil e transparente, aumentando a produtividade e a colaboração.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229767" y="8281289"/>
            <a:ext cx="5029533" cy="977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12"/>
              </a:lnSpc>
            </a:pPr>
            <a:r>
              <a:rPr lang="en-US" b="true" sz="7400">
                <a:solidFill>
                  <a:srgbClr val="00000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Kanban...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723922" y="2794801"/>
            <a:ext cx="1447843" cy="7238555"/>
            <a:chOff x="0" y="0"/>
            <a:chExt cx="276141" cy="13805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6141" cy="1380579"/>
            </a:xfrm>
            <a:custGeom>
              <a:avLst/>
              <a:gdLst/>
              <a:ahLst/>
              <a:cxnLst/>
              <a:rect r="r" b="b" t="t" l="l"/>
              <a:pathLst>
                <a:path h="1380579" w="276141">
                  <a:moveTo>
                    <a:pt x="0" y="0"/>
                  </a:moveTo>
                  <a:lnTo>
                    <a:pt x="276141" y="0"/>
                  </a:lnTo>
                  <a:lnTo>
                    <a:pt x="276141" y="1380579"/>
                  </a:lnTo>
                  <a:lnTo>
                    <a:pt x="0" y="1380579"/>
                  </a:lnTo>
                  <a:close/>
                </a:path>
              </a:pathLst>
            </a:custGeom>
            <a:solidFill>
              <a:srgbClr val="272D4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76141" cy="14186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21692" y="9582799"/>
            <a:ext cx="7507998" cy="1735640"/>
            <a:chOff x="0" y="0"/>
            <a:chExt cx="1431969" cy="3310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31969" cy="331031"/>
            </a:xfrm>
            <a:custGeom>
              <a:avLst/>
              <a:gdLst/>
              <a:ahLst/>
              <a:cxnLst/>
              <a:rect r="r" b="b" t="t" l="l"/>
              <a:pathLst>
                <a:path h="331031" w="1431969">
                  <a:moveTo>
                    <a:pt x="0" y="0"/>
                  </a:moveTo>
                  <a:lnTo>
                    <a:pt x="1431969" y="0"/>
                  </a:lnTo>
                  <a:lnTo>
                    <a:pt x="1431969" y="331031"/>
                  </a:lnTo>
                  <a:lnTo>
                    <a:pt x="0" y="331031"/>
                  </a:lnTo>
                  <a:close/>
                </a:path>
              </a:pathLst>
            </a:custGeom>
            <a:solidFill>
              <a:srgbClr val="272D4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31969" cy="369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45263"/>
            <a:ext cx="6700813" cy="179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12"/>
              </a:lnSpc>
              <a:spcBef>
                <a:spcPct val="0"/>
              </a:spcBef>
            </a:pPr>
            <a:r>
              <a:rPr lang="en-US" b="true" sz="7400">
                <a:solidFill>
                  <a:srgbClr val="272D4B"/>
                </a:solidFill>
                <a:latin typeface="Poppins Bold"/>
                <a:ea typeface="Poppins Bold"/>
                <a:cs typeface="Poppins Bold"/>
                <a:sym typeface="Poppins Bold"/>
              </a:rPr>
              <a:t>Requisitos funcionais: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6301" y="2955168"/>
            <a:ext cx="9463091" cy="6581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75"/>
              </a:lnSpc>
              <a:spcBef>
                <a:spcPct val="0"/>
              </a:spcBef>
            </a:pPr>
          </a:p>
          <a:p>
            <a:pPr algn="l" marL="505179" indent="-252590" lvl="1">
              <a:lnSpc>
                <a:spcPts val="3275"/>
              </a:lnSpc>
              <a:spcBef>
                <a:spcPct val="0"/>
              </a:spcBef>
              <a:buAutoNum type="arabicPeriod" startAt="1"/>
            </a:pPr>
            <a:r>
              <a:rPr lang="en-US" b="true" sz="2339" strike="noStrike" u="none">
                <a:solidFill>
                  <a:srgbClr val="272D4B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O usuário deve criar uma conta simples (e-mail e senha).</a:t>
            </a:r>
          </a:p>
          <a:p>
            <a:pPr algn="l" marL="505179" indent="-252590" lvl="1">
              <a:lnSpc>
                <a:spcPts val="3275"/>
              </a:lnSpc>
              <a:spcBef>
                <a:spcPct val="0"/>
              </a:spcBef>
              <a:buAutoNum type="arabicPeriod" startAt="1"/>
            </a:pPr>
            <a:r>
              <a:rPr lang="en-US" b="true" sz="2339" strike="noStrike" u="none">
                <a:solidFill>
                  <a:srgbClr val="272D4B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O usuário pode visualizar uma lista de produtos com nome, foto, preço e descrição.</a:t>
            </a:r>
          </a:p>
          <a:p>
            <a:pPr algn="l" marL="505179" indent="-252590" lvl="1">
              <a:lnSpc>
                <a:spcPts val="3275"/>
              </a:lnSpc>
              <a:spcBef>
                <a:spcPct val="0"/>
              </a:spcBef>
              <a:buAutoNum type="arabicPeriod" startAt="1"/>
            </a:pPr>
            <a:r>
              <a:rPr lang="en-US" b="true" sz="2339" strike="noStrike" u="none">
                <a:solidFill>
                  <a:srgbClr val="272D4B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O usuário pode pesquisar produtos por nome ou categoria.</a:t>
            </a:r>
          </a:p>
          <a:p>
            <a:pPr algn="l" marL="505179" indent="-252590" lvl="1">
              <a:lnSpc>
                <a:spcPts val="3275"/>
              </a:lnSpc>
              <a:spcBef>
                <a:spcPct val="0"/>
              </a:spcBef>
              <a:buAutoNum type="arabicPeriod" startAt="1"/>
            </a:pPr>
            <a:r>
              <a:rPr lang="en-US" b="true" sz="2339" strike="noStrike" u="none">
                <a:solidFill>
                  <a:srgbClr val="272D4B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O usuário pode adicionar produtos ao carrinho.</a:t>
            </a:r>
          </a:p>
          <a:p>
            <a:pPr algn="l" marL="505179" indent="-252590" lvl="1">
              <a:lnSpc>
                <a:spcPts val="3275"/>
              </a:lnSpc>
              <a:spcBef>
                <a:spcPct val="0"/>
              </a:spcBef>
              <a:buAutoNum type="arabicPeriod" startAt="1"/>
            </a:pPr>
            <a:r>
              <a:rPr lang="en-US" b="true" sz="2339" strike="noStrike" u="none">
                <a:solidFill>
                  <a:srgbClr val="272D4B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O usuário pode visualizar e editar o carrinho antes de finalizar.</a:t>
            </a:r>
          </a:p>
          <a:p>
            <a:pPr algn="l" marL="505179" indent="-252590" lvl="1">
              <a:lnSpc>
                <a:spcPts val="3275"/>
              </a:lnSpc>
              <a:spcBef>
                <a:spcPct val="0"/>
              </a:spcBef>
              <a:buAutoNum type="arabicPeriod" startAt="1"/>
            </a:pPr>
            <a:r>
              <a:rPr lang="en-US" b="true" sz="2339" strike="noStrike" u="none">
                <a:solidFill>
                  <a:srgbClr val="272D4B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O usuário pode confirmar o pedido (com opção de retirada na loja ou entrega local).</a:t>
            </a:r>
          </a:p>
          <a:p>
            <a:pPr algn="l" marL="505179" indent="-252590" lvl="1">
              <a:lnSpc>
                <a:spcPts val="3275"/>
              </a:lnSpc>
              <a:spcBef>
                <a:spcPct val="0"/>
              </a:spcBef>
              <a:buAutoNum type="arabicPeriod" startAt="1"/>
            </a:pPr>
            <a:r>
              <a:rPr lang="en-US" b="true" sz="2339" strike="noStrike" u="none">
                <a:solidFill>
                  <a:srgbClr val="272D4B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O sistema deve salvar o histórico básico de pedidos do usuário.</a:t>
            </a:r>
          </a:p>
          <a:p>
            <a:pPr algn="l" marL="505179" indent="-252590" lvl="1">
              <a:lnSpc>
                <a:spcPts val="3275"/>
              </a:lnSpc>
              <a:spcBef>
                <a:spcPct val="0"/>
              </a:spcBef>
              <a:buAutoNum type="arabicPeriod" startAt="1"/>
            </a:pPr>
            <a:r>
              <a:rPr lang="en-US" b="true" sz="2339" strike="noStrike" u="none">
                <a:solidFill>
                  <a:srgbClr val="272D4B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O sistema deve permitir ao administrador (pet shop) cadastrar, editar e remover produtos.</a:t>
            </a:r>
          </a:p>
          <a:p>
            <a:pPr algn="l" marL="0" indent="0" lvl="0">
              <a:lnSpc>
                <a:spcPts val="3275"/>
              </a:lnSpc>
              <a:spcBef>
                <a:spcPct val="0"/>
              </a:spcBef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0107405" y="9686969"/>
            <a:ext cx="7151895" cy="1158044"/>
            <a:chOff x="0" y="0"/>
            <a:chExt cx="1364051" cy="2208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64051" cy="220869"/>
            </a:xfrm>
            <a:custGeom>
              <a:avLst/>
              <a:gdLst/>
              <a:ahLst/>
              <a:cxnLst/>
              <a:rect r="r" b="b" t="t" l="l"/>
              <a:pathLst>
                <a:path h="220869" w="1364051">
                  <a:moveTo>
                    <a:pt x="0" y="0"/>
                  </a:moveTo>
                  <a:lnTo>
                    <a:pt x="1364051" y="0"/>
                  </a:lnTo>
                  <a:lnTo>
                    <a:pt x="1364051" y="220869"/>
                  </a:lnTo>
                  <a:lnTo>
                    <a:pt x="0" y="220869"/>
                  </a:lnTo>
                  <a:close/>
                </a:path>
              </a:pathLst>
            </a:custGeom>
            <a:solidFill>
              <a:srgbClr val="272D4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64051" cy="258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107405" y="-423515"/>
            <a:ext cx="7151895" cy="1452215"/>
            <a:chOff x="0" y="0"/>
            <a:chExt cx="1364051" cy="2769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64051" cy="276975"/>
            </a:xfrm>
            <a:custGeom>
              <a:avLst/>
              <a:gdLst/>
              <a:ahLst/>
              <a:cxnLst/>
              <a:rect r="r" b="b" t="t" l="l"/>
              <a:pathLst>
                <a:path h="276975" w="1364051">
                  <a:moveTo>
                    <a:pt x="0" y="0"/>
                  </a:moveTo>
                  <a:lnTo>
                    <a:pt x="1364051" y="0"/>
                  </a:lnTo>
                  <a:lnTo>
                    <a:pt x="1364051" y="276975"/>
                  </a:lnTo>
                  <a:lnTo>
                    <a:pt x="0" y="276975"/>
                  </a:lnTo>
                  <a:close/>
                </a:path>
              </a:pathLst>
            </a:custGeom>
            <a:solidFill>
              <a:srgbClr val="272D4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364051" cy="315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107405" y="1381361"/>
            <a:ext cx="7313140" cy="179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12"/>
              </a:lnSpc>
              <a:spcBef>
                <a:spcPct val="0"/>
              </a:spcBef>
            </a:pPr>
            <a:r>
              <a:rPr lang="en-US" b="true" sz="7400">
                <a:solidFill>
                  <a:srgbClr val="272D4B"/>
                </a:solidFill>
                <a:latin typeface="Poppins Bold"/>
                <a:ea typeface="Poppins Bold"/>
                <a:cs typeface="Poppins Bold"/>
                <a:sym typeface="Poppins Bold"/>
              </a:rPr>
              <a:t>Requisitos não funcionais: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79074" y="3320397"/>
            <a:ext cx="6008556" cy="3294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5"/>
              </a:lnSpc>
              <a:spcBef>
                <a:spcPct val="0"/>
              </a:spcBef>
            </a:pPr>
            <a:r>
              <a:rPr lang="en-US" b="true" sz="2339">
                <a:solidFill>
                  <a:srgbClr val="272D4B"/>
                </a:solidFill>
                <a:latin typeface="Poppins Bold"/>
                <a:ea typeface="Poppins Bold"/>
                <a:cs typeface="Poppins Bold"/>
                <a:sym typeface="Poppins Bold"/>
              </a:rPr>
              <a:t>D</a:t>
            </a:r>
            <a:r>
              <a:rPr lang="en-US" b="true" sz="2339">
                <a:solidFill>
                  <a:srgbClr val="272D4B"/>
                </a:solidFill>
                <a:latin typeface="Poppins Bold"/>
                <a:ea typeface="Poppins Bold"/>
                <a:cs typeface="Poppins Bold"/>
                <a:sym typeface="Poppins Bold"/>
              </a:rPr>
              <a:t>esem</a:t>
            </a:r>
            <a:r>
              <a:rPr lang="en-US" b="true" sz="2339" strike="noStrike" u="none">
                <a:solidFill>
                  <a:srgbClr val="272D4B"/>
                </a:solidFill>
                <a:latin typeface="Poppins Bold"/>
                <a:ea typeface="Poppins Bold"/>
                <a:cs typeface="Poppins Bold"/>
                <a:sym typeface="Poppins Bold"/>
              </a:rPr>
              <a:t>p</a:t>
            </a:r>
            <a:r>
              <a:rPr lang="en-US" b="true" sz="2339">
                <a:solidFill>
                  <a:srgbClr val="272D4B"/>
                </a:solidFill>
                <a:latin typeface="Poppins Bold"/>
                <a:ea typeface="Poppins Bold"/>
                <a:cs typeface="Poppins Bold"/>
                <a:sym typeface="Poppins Bold"/>
              </a:rPr>
              <a:t>enho</a:t>
            </a:r>
            <a:r>
              <a:rPr lang="en-US" b="true" sz="2339" strike="noStrike" u="none">
                <a:solidFill>
                  <a:srgbClr val="272D4B"/>
                </a:solidFill>
                <a:latin typeface="Poppins Bold"/>
                <a:ea typeface="Poppins Bold"/>
                <a:cs typeface="Poppins Bold"/>
                <a:sym typeface="Poppins Bold"/>
              </a:rPr>
              <a:t>: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ista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gem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 de produtos 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deve 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arregar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 e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é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gun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s.</a:t>
            </a:r>
          </a:p>
          <a:p>
            <a:pPr algn="l">
              <a:lnSpc>
                <a:spcPts val="3275"/>
              </a:lnSpc>
              <a:spcBef>
                <a:spcPct val="0"/>
              </a:spcBef>
            </a:pPr>
            <a:r>
              <a:rPr lang="en-US" b="true" sz="2339" strike="noStrike" u="none">
                <a:solidFill>
                  <a:srgbClr val="272D4B"/>
                </a:solidFill>
                <a:latin typeface="Poppins Bold"/>
                <a:ea typeface="Poppins Bold"/>
                <a:cs typeface="Poppins Bold"/>
                <a:sym typeface="Poppins Bold"/>
              </a:rPr>
              <a:t>U</a:t>
            </a:r>
            <a:r>
              <a:rPr lang="en-US" b="true" sz="2339">
                <a:solidFill>
                  <a:srgbClr val="272D4B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  <a:r>
              <a:rPr lang="en-US" b="true" sz="2339" strike="noStrike" u="none">
                <a:solidFill>
                  <a:srgbClr val="272D4B"/>
                </a:solidFill>
                <a:latin typeface="Poppins Bold"/>
                <a:ea typeface="Poppins Bold"/>
                <a:cs typeface="Poppins Bold"/>
                <a:sym typeface="Poppins Bold"/>
              </a:rPr>
              <a:t>ab</a:t>
            </a:r>
            <a:r>
              <a:rPr lang="en-US" b="true" sz="2339">
                <a:solidFill>
                  <a:srgbClr val="272D4B"/>
                </a:solidFill>
                <a:latin typeface="Poppins Bold"/>
                <a:ea typeface="Poppins Bold"/>
                <a:cs typeface="Poppins Bold"/>
                <a:sym typeface="Poppins Bold"/>
              </a:rPr>
              <a:t>i</a:t>
            </a:r>
            <a:r>
              <a:rPr lang="en-US" b="true" sz="2339" strike="noStrike" u="none">
                <a:solidFill>
                  <a:srgbClr val="272D4B"/>
                </a:solidFill>
                <a:latin typeface="Poppins Bold"/>
                <a:ea typeface="Poppins Bold"/>
                <a:cs typeface="Poppins Bold"/>
                <a:sym typeface="Poppins Bold"/>
              </a:rPr>
              <a:t>l</a:t>
            </a:r>
            <a:r>
              <a:rPr lang="en-US" b="true" sz="2339">
                <a:solidFill>
                  <a:srgbClr val="272D4B"/>
                </a:solidFill>
                <a:latin typeface="Poppins Bold"/>
                <a:ea typeface="Poppins Bold"/>
                <a:cs typeface="Poppins Bold"/>
                <a:sym typeface="Poppins Bold"/>
              </a:rPr>
              <a:t>i</a:t>
            </a:r>
            <a:r>
              <a:rPr lang="en-US" b="true" sz="2339" strike="noStrike" u="none">
                <a:solidFill>
                  <a:srgbClr val="272D4B"/>
                </a:solidFill>
                <a:latin typeface="Poppins Bold"/>
                <a:ea typeface="Poppins Bold"/>
                <a:cs typeface="Poppins Bold"/>
                <a:sym typeface="Poppins Bold"/>
              </a:rPr>
              <a:t>d</a:t>
            </a:r>
            <a:r>
              <a:rPr lang="en-US" b="true" sz="2339">
                <a:solidFill>
                  <a:srgbClr val="272D4B"/>
                </a:solidFill>
                <a:latin typeface="Poppins Bold"/>
                <a:ea typeface="Poppins Bold"/>
                <a:cs typeface="Poppins Bold"/>
                <a:sym typeface="Poppins Bold"/>
              </a:rPr>
              <a:t>ade</a:t>
            </a:r>
            <a:r>
              <a:rPr lang="en-US" b="true" sz="2339" strike="noStrike" u="none">
                <a:solidFill>
                  <a:srgbClr val="272D4B"/>
                </a:solidFill>
                <a:latin typeface="Poppins Bold"/>
                <a:ea typeface="Poppins Bold"/>
                <a:cs typeface="Poppins Bold"/>
                <a:sym typeface="Poppins Bold"/>
              </a:rPr>
              <a:t>: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In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ter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ce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 si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s,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ar a a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pp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s de 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de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li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er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y,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 co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bo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õ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es 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lar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os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>
              <a:lnSpc>
                <a:spcPts val="3275"/>
              </a:lnSpc>
              <a:spcBef>
                <a:spcPct val="0"/>
              </a:spcBef>
            </a:pPr>
            <a:r>
              <a:rPr lang="en-US" b="true" sz="2339" strike="noStrike" u="none">
                <a:solidFill>
                  <a:srgbClr val="272D4B"/>
                </a:solidFill>
                <a:latin typeface="Poppins Bold"/>
                <a:ea typeface="Poppins Bold"/>
                <a:cs typeface="Poppins Bold"/>
                <a:sym typeface="Poppins Bold"/>
              </a:rPr>
              <a:t>Seg</a:t>
            </a:r>
            <a:r>
              <a:rPr lang="en-US" b="true" sz="2339">
                <a:solidFill>
                  <a:srgbClr val="272D4B"/>
                </a:solidFill>
                <a:latin typeface="Poppins Bold"/>
                <a:ea typeface="Poppins Bold"/>
                <a:cs typeface="Poppins Bold"/>
                <a:sym typeface="Poppins Bold"/>
              </a:rPr>
              <a:t>ur</a:t>
            </a:r>
            <a:r>
              <a:rPr lang="en-US" b="true" sz="2339" strike="noStrike" u="none">
                <a:solidFill>
                  <a:srgbClr val="272D4B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  <a:r>
              <a:rPr lang="en-US" b="true" sz="2339">
                <a:solidFill>
                  <a:srgbClr val="272D4B"/>
                </a:solidFill>
                <a:latin typeface="Poppins Bold"/>
                <a:ea typeface="Poppins Bold"/>
                <a:cs typeface="Poppins Bold"/>
                <a:sym typeface="Poppins Bold"/>
              </a:rPr>
              <a:t>n</a:t>
            </a:r>
            <a:r>
              <a:rPr lang="en-US" b="true" sz="2339" strike="noStrike" u="none">
                <a:solidFill>
                  <a:srgbClr val="272D4B"/>
                </a:solidFill>
                <a:latin typeface="Poppins Bold"/>
                <a:ea typeface="Poppins Bold"/>
                <a:cs typeface="Poppins Bold"/>
                <a:sym typeface="Poppins Bold"/>
              </a:rPr>
              <a:t>ç</a:t>
            </a:r>
            <a:r>
              <a:rPr lang="en-US" b="true" sz="2339">
                <a:solidFill>
                  <a:srgbClr val="272D4B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  <a:r>
              <a:rPr lang="en-US" b="true" sz="2339" strike="noStrike" u="none">
                <a:solidFill>
                  <a:srgbClr val="272D4B"/>
                </a:solidFill>
                <a:latin typeface="Poppins Bold"/>
                <a:ea typeface="Poppins Bold"/>
                <a:cs typeface="Poppins Bold"/>
                <a:sym typeface="Poppins Bold"/>
              </a:rPr>
              <a:t>: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Cr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ipt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og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ra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fi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básic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ara se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nh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 e 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rot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eçã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o de d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dos do usuário.</a:t>
            </a:r>
          </a:p>
          <a:p>
            <a:pPr algn="l">
              <a:lnSpc>
                <a:spcPts val="3275"/>
              </a:lnSpc>
              <a:spcBef>
                <a:spcPct val="0"/>
              </a:spcBef>
            </a:pPr>
            <a:r>
              <a:rPr lang="en-US" b="true" sz="2339" strike="noStrike" u="none">
                <a:solidFill>
                  <a:srgbClr val="272D4B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b="true" sz="2339">
                <a:solidFill>
                  <a:srgbClr val="272D4B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  <a:r>
              <a:rPr lang="en-US" b="true" sz="2339" strike="noStrike" u="none">
                <a:solidFill>
                  <a:srgbClr val="272D4B"/>
                </a:solidFill>
                <a:latin typeface="Poppins Bold"/>
                <a:ea typeface="Poppins Bold"/>
                <a:cs typeface="Poppins Bold"/>
                <a:sym typeface="Poppins Bold"/>
              </a:rPr>
              <a:t>calab</a:t>
            </a:r>
            <a:r>
              <a:rPr lang="en-US" b="true" sz="2339">
                <a:solidFill>
                  <a:srgbClr val="272D4B"/>
                </a:solidFill>
                <a:latin typeface="Poppins Bold"/>
                <a:ea typeface="Poppins Bold"/>
                <a:cs typeface="Poppins Bold"/>
                <a:sym typeface="Poppins Bold"/>
              </a:rPr>
              <a:t>i</a:t>
            </a:r>
            <a:r>
              <a:rPr lang="en-US" b="true" sz="2339" strike="noStrike" u="none">
                <a:solidFill>
                  <a:srgbClr val="272D4B"/>
                </a:solidFill>
                <a:latin typeface="Poppins Bold"/>
                <a:ea typeface="Poppins Bold"/>
                <a:cs typeface="Poppins Bold"/>
                <a:sym typeface="Poppins Bold"/>
              </a:rPr>
              <a:t>lid</a:t>
            </a:r>
            <a:r>
              <a:rPr lang="en-US" b="true" sz="2339">
                <a:solidFill>
                  <a:srgbClr val="272D4B"/>
                </a:solidFill>
                <a:latin typeface="Poppins Bold"/>
                <a:ea typeface="Poppins Bold"/>
                <a:cs typeface="Poppins Bold"/>
                <a:sym typeface="Poppins Bold"/>
              </a:rPr>
              <a:t>ade</a:t>
            </a:r>
            <a:r>
              <a:rPr lang="en-US" b="true" sz="2339" strike="noStrike" u="none">
                <a:solidFill>
                  <a:srgbClr val="272D4B"/>
                </a:solidFill>
                <a:latin typeface="Poppins Bold"/>
                <a:ea typeface="Poppins Bold"/>
                <a:cs typeface="Poppins Bold"/>
                <a:sym typeface="Poppins Bold"/>
              </a:rPr>
              <a:t>: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Es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tr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ra p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ep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ar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ada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 p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ar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di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cion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ar 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ov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as funçõ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 f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ut</a:t>
            </a:r>
            <a:r>
              <a:rPr lang="en-US" sz="2339" strike="noStrike" u="none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ur</a:t>
            </a:r>
            <a:r>
              <a:rPr lang="en-US" sz="2339">
                <a:solidFill>
                  <a:srgbClr val="272D4B"/>
                </a:solidFill>
                <a:latin typeface="Poppins"/>
                <a:ea typeface="Poppins"/>
                <a:cs typeface="Poppins"/>
                <a:sym typeface="Poppins"/>
              </a:rPr>
              <a:t>o.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2422791" y="6970571"/>
            <a:ext cx="2424819" cy="2235885"/>
          </a:xfrm>
          <a:custGeom>
            <a:avLst/>
            <a:gdLst/>
            <a:ahLst/>
            <a:cxnLst/>
            <a:rect r="r" b="b" t="t" l="l"/>
            <a:pathLst>
              <a:path h="2235885" w="2424819">
                <a:moveTo>
                  <a:pt x="0" y="0"/>
                </a:moveTo>
                <a:lnTo>
                  <a:pt x="2424819" y="0"/>
                </a:lnTo>
                <a:lnTo>
                  <a:pt x="2424819" y="2235885"/>
                </a:lnTo>
                <a:lnTo>
                  <a:pt x="0" y="22358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269733" y="8954683"/>
            <a:ext cx="2988486" cy="728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59"/>
              </a:lnSpc>
              <a:spcBef>
                <a:spcPct val="0"/>
              </a:spcBef>
            </a:pPr>
            <a:r>
              <a:rPr lang="en-US" sz="4328">
                <a:solidFill>
                  <a:srgbClr val="000000"/>
                </a:solidFill>
                <a:latin typeface="Beach Resort"/>
                <a:ea typeface="Beach Resort"/>
                <a:cs typeface="Beach Resort"/>
                <a:sym typeface="Beach Resort"/>
              </a:rPr>
              <a:t>Pata na Porta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757016" y="5300071"/>
            <a:ext cx="7882001" cy="224168"/>
            <a:chOff x="0" y="0"/>
            <a:chExt cx="1503301" cy="4275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03301" cy="42755"/>
            </a:xfrm>
            <a:custGeom>
              <a:avLst/>
              <a:gdLst/>
              <a:ahLst/>
              <a:cxnLst/>
              <a:rect r="r" b="b" t="t" l="l"/>
              <a:pathLst>
                <a:path h="42755" w="1503301">
                  <a:moveTo>
                    <a:pt x="0" y="0"/>
                  </a:moveTo>
                  <a:lnTo>
                    <a:pt x="1503301" y="0"/>
                  </a:lnTo>
                  <a:lnTo>
                    <a:pt x="1503301" y="42755"/>
                  </a:lnTo>
                  <a:lnTo>
                    <a:pt x="0" y="42755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503301" cy="808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1757016" y="3708530"/>
            <a:ext cx="4964673" cy="124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545454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Obrigado pela atenção!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757016" y="5771889"/>
            <a:ext cx="4964673" cy="62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1 por 6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298670" y="6295493"/>
            <a:ext cx="3159753" cy="2913556"/>
          </a:xfrm>
          <a:custGeom>
            <a:avLst/>
            <a:gdLst/>
            <a:ahLst/>
            <a:cxnLst/>
            <a:rect r="r" b="b" t="t" l="l"/>
            <a:pathLst>
              <a:path h="2913556" w="3159753">
                <a:moveTo>
                  <a:pt x="0" y="0"/>
                </a:moveTo>
                <a:lnTo>
                  <a:pt x="3159754" y="0"/>
                </a:lnTo>
                <a:lnTo>
                  <a:pt x="3159754" y="2913556"/>
                </a:lnTo>
                <a:lnTo>
                  <a:pt x="0" y="29135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099222" y="8875486"/>
            <a:ext cx="3894261" cy="95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96"/>
              </a:lnSpc>
              <a:spcBef>
                <a:spcPct val="0"/>
              </a:spcBef>
            </a:pPr>
            <a:r>
              <a:rPr lang="en-US" sz="5640">
                <a:solidFill>
                  <a:srgbClr val="000000"/>
                </a:solidFill>
                <a:latin typeface="Beach Resort"/>
                <a:ea typeface="Beach Resort"/>
                <a:cs typeface="Beach Resort"/>
                <a:sym typeface="Beach Resort"/>
              </a:rPr>
              <a:t>Pata na Porta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DAGw1Vn1h_A</dc:identifier>
  <dcterms:modified xsi:type="dcterms:W3CDTF">2011-08-01T06:04:30Z</dcterms:modified>
  <cp:revision>1</cp:revision>
  <dc:title>1 por 6</dc:title>
</cp:coreProperties>
</file>